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한 줄 정의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구직자의 탐색·준비·지원·관리를 연결한 AI 취업지원 서비스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1328"/>
            <a:ext cx="10744200" cy="566928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“시니어 재취업 전환 퍼널”을 웹 한 세트로 압축한 플랫폼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359152"/>
            <a:ext cx="2338578" cy="62179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일자리 탐색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3390138" y="2527036"/>
            <a:ext cx="128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09594" y="2359152"/>
            <a:ext cx="2338578" cy="62179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취업 준비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6039612" y="2527036"/>
            <a:ext cx="128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59068" y="2359152"/>
            <a:ext cx="2338578" cy="621792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즉시 지원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8689086" y="2527036"/>
            <a:ext cx="128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08542" y="2359152"/>
            <a:ext cx="2338578" cy="621792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마이페이지 관리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777240" y="3429000"/>
            <a:ext cx="2103120" cy="521208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80360" y="3429000"/>
            <a:ext cx="8641080" cy="521208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 내용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950208"/>
            <a:ext cx="210312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성격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80360" y="3950208"/>
            <a:ext cx="864108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전문 일자리 플랫폼 + AI 취업지원 도구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471416"/>
            <a:ext cx="2103120" cy="521208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사용자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80360" y="4471416"/>
            <a:ext cx="8641080" cy="521208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재취업·전직·단기/파트타임 일자리를 찾는 시니어 구직자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992624"/>
            <a:ext cx="210312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가치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80360" y="4992624"/>
            <a:ext cx="864108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 탐색부터 이력서·증명사진·모의면접 준비까지 한 흐름으로 제공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513832"/>
            <a:ext cx="2103120" cy="521208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 관점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80360" y="5513832"/>
            <a:ext cx="8641080" cy="521208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구인구직 보드가 아니라, 구직 행동과 준비 과정을 묶은 통합 퍼널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1/10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사이트 구조 요약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페이지가 유입, 행동, 준비, 관리, 접근성 역할을 나누어 담당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1554480" cy="81534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영역</a:t>
            </a:r>
            <a:endParaRPr lang="en-US" sz="1460" dirty="0"/>
          </a:p>
        </p:txBody>
      </p:sp>
      <p:sp>
        <p:nvSpPr>
          <p:cNvPr id="9" name="Text 7"/>
          <p:cNvSpPr/>
          <p:nvPr/>
        </p:nvSpPr>
        <p:spPr>
          <a:xfrm>
            <a:off x="2148840" y="1508760"/>
            <a:ext cx="1828800" cy="81534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페이지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3977640" y="1508760"/>
            <a:ext cx="4114800" cy="81534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역할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8092440" y="1508760"/>
            <a:ext cx="3520440" cy="81534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가치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594360" y="2324100"/>
            <a:ext cx="155448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유입/설득</a:t>
            </a:r>
            <a:endParaRPr lang="en-US" sz="1460" dirty="0"/>
          </a:p>
        </p:txBody>
      </p:sp>
      <p:sp>
        <p:nvSpPr>
          <p:cNvPr id="13" name="Text 11"/>
          <p:cNvSpPr/>
          <p:nvPr/>
        </p:nvSpPr>
        <p:spPr>
          <a:xfrm>
            <a:off x="2148840" y="2324100"/>
            <a:ext cx="1828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랜딩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3977640" y="2324100"/>
            <a:ext cx="4114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가치 제안, AI 기능 소개, 추천 채용 노출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8092440" y="2324100"/>
            <a:ext cx="352044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서비스가 나에게 어떤 도움을 주는지 빠르게 이해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594360" y="3139440"/>
            <a:ext cx="155448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 탐색</a:t>
            </a:r>
            <a:endParaRPr lang="en-US" sz="1460" dirty="0"/>
          </a:p>
        </p:txBody>
      </p:sp>
      <p:sp>
        <p:nvSpPr>
          <p:cNvPr id="17" name="Text 15"/>
          <p:cNvSpPr/>
          <p:nvPr/>
        </p:nvSpPr>
        <p:spPr>
          <a:xfrm>
            <a:off x="2148840" y="3139440"/>
            <a:ext cx="182880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3977640" y="3139440"/>
            <a:ext cx="411480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공고 목록, 필터, 상세 모달, 찜, 지원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8092440" y="3139440"/>
            <a:ext cx="352044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원하는 일자리를 찾고 바로 행동 가능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594360" y="3954780"/>
            <a:ext cx="155448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</a:t>
            </a:r>
            <a:endParaRPr lang="en-US" sz="1460" dirty="0"/>
          </a:p>
        </p:txBody>
      </p:sp>
      <p:sp>
        <p:nvSpPr>
          <p:cNvPr id="21" name="Text 19"/>
          <p:cNvSpPr/>
          <p:nvPr/>
        </p:nvSpPr>
        <p:spPr>
          <a:xfrm>
            <a:off x="2148840" y="3954780"/>
            <a:ext cx="1828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취업지원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3977640" y="3954780"/>
            <a:ext cx="4114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이력서, 증명사진, 모의면접 기능 데모</a:t>
            </a:r>
            <a:endParaRPr lang="en-US" sz="1460" dirty="0"/>
          </a:p>
        </p:txBody>
      </p:sp>
      <p:sp>
        <p:nvSpPr>
          <p:cNvPr id="23" name="Text 21"/>
          <p:cNvSpPr/>
          <p:nvPr/>
        </p:nvSpPr>
        <p:spPr>
          <a:xfrm>
            <a:off x="8092440" y="3954780"/>
            <a:ext cx="352044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 부담을 AI가 줄여준다는 인식 제공</a:t>
            </a:r>
            <a:endParaRPr lang="en-US" sz="1460" dirty="0"/>
          </a:p>
        </p:txBody>
      </p:sp>
      <p:sp>
        <p:nvSpPr>
          <p:cNvPr id="24" name="Text 22"/>
          <p:cNvSpPr/>
          <p:nvPr/>
        </p:nvSpPr>
        <p:spPr>
          <a:xfrm>
            <a:off x="594360" y="4770120"/>
            <a:ext cx="155448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관리</a:t>
            </a:r>
            <a:endParaRPr lang="en-US" sz="1460" dirty="0"/>
          </a:p>
        </p:txBody>
      </p:sp>
      <p:sp>
        <p:nvSpPr>
          <p:cNvPr id="25" name="Text 23"/>
          <p:cNvSpPr/>
          <p:nvPr/>
        </p:nvSpPr>
        <p:spPr>
          <a:xfrm>
            <a:off x="2148840" y="4770120"/>
            <a:ext cx="182880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마이페이지</a:t>
            </a: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3977640" y="4770120"/>
            <a:ext cx="411480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 현황, 찜한 공고, 이력서·문의 관리</a:t>
            </a:r>
            <a:endParaRPr lang="en-US" sz="1460" dirty="0"/>
          </a:p>
        </p:txBody>
      </p:sp>
      <p:sp>
        <p:nvSpPr>
          <p:cNvPr id="27" name="Text 25"/>
          <p:cNvSpPr/>
          <p:nvPr/>
        </p:nvSpPr>
        <p:spPr>
          <a:xfrm>
            <a:off x="8092440" y="4770120"/>
            <a:ext cx="3520440" cy="81534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활동을 한곳에서 확인하고 관리</a:t>
            </a:r>
            <a:endParaRPr lang="en-US" sz="1460" dirty="0"/>
          </a:p>
        </p:txBody>
      </p:sp>
      <p:sp>
        <p:nvSpPr>
          <p:cNvPr id="28" name="Text 26"/>
          <p:cNvSpPr/>
          <p:nvPr/>
        </p:nvSpPr>
        <p:spPr>
          <a:xfrm>
            <a:off x="594360" y="5585460"/>
            <a:ext cx="155448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 보조</a:t>
            </a:r>
            <a:endParaRPr lang="en-US" sz="1460" dirty="0"/>
          </a:p>
        </p:txBody>
      </p:sp>
      <p:sp>
        <p:nvSpPr>
          <p:cNvPr id="29" name="Text 27"/>
          <p:cNvSpPr/>
          <p:nvPr/>
        </p:nvSpPr>
        <p:spPr>
          <a:xfrm>
            <a:off x="2148840" y="5585460"/>
            <a:ext cx="1828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전역 기능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3977640" y="5585460"/>
            <a:ext cx="411480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 크기, 줄 간격, 설정 저장</a:t>
            </a:r>
            <a:endParaRPr lang="en-US" sz="1460" dirty="0"/>
          </a:p>
        </p:txBody>
      </p:sp>
      <p:sp>
        <p:nvSpPr>
          <p:cNvPr id="31" name="Text 29"/>
          <p:cNvSpPr/>
          <p:nvPr/>
        </p:nvSpPr>
        <p:spPr>
          <a:xfrm>
            <a:off x="8092440" y="5585460"/>
            <a:ext cx="3520440" cy="8153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사용자의 가독성과 사용 편의성 강화</a:t>
            </a:r>
            <a:endParaRPr lang="en-US" sz="146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2/10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기능 정리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구직 행동을 유도하는 기능과 AI 준비 기능이 한 흐름으로 연결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554480" cy="64008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구분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2148840" cy="64008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세부 기능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114800" y="1417320"/>
            <a:ext cx="3657600" cy="64008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구현/표현 방식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7772400" y="1417320"/>
            <a:ext cx="4023360" cy="64008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내 역할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랜딩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1965960" y="205740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히어로·AI 기능 카드·추천 채용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가치 제안과 진입 버튼을 전면 배치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7772400" y="205740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이해와 첫 행동 유도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411480" y="2697480"/>
            <a:ext cx="155448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1965960" y="2697480"/>
            <a:ext cx="214884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목록·필터·상세 모달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4114800" y="2697480"/>
            <a:ext cx="365760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카드형 리스트와 즉시 확인 구조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7772400" y="2697480"/>
            <a:ext cx="402336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탐색에서 지원 판단까지 연결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11480" y="333756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찜/지원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1965960" y="333756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찜하기·즉시 지원·저장 상태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4114800" y="333756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브라우저 저장 기반 상태 유지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7772400" y="333756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활동 누적 경험 제공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11480" y="3977640"/>
            <a:ext cx="155448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이력서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1965960" y="3977640"/>
            <a:ext cx="214884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경력 정리·초안 생성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114800" y="3977640"/>
            <a:ext cx="365760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대화형 입력과 타이핑형 데모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7772400" y="3977640"/>
            <a:ext cx="402336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경험을 문서화하는 부담 감소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11480" y="461772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증명사진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1965960" y="461772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정장/증명사진 톤 보정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4114800" y="461772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Before/After 변환 표현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7772400" y="461772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이력서용 사진 준비 장벽 완화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411480" y="5257800"/>
            <a:ext cx="155448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모의면접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1965960" y="5257800"/>
            <a:ext cx="214884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직무 맞춤 질문·피드백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4114800" y="5257800"/>
            <a:ext cx="365760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바·웨이브·분석 연출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7772400" y="5257800"/>
            <a:ext cx="4023360" cy="64008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면접 연습과 자신감 형성</a:t>
            </a:r>
            <a:endParaRPr lang="en-US" sz="1260" dirty="0"/>
          </a:p>
        </p:txBody>
      </p:sp>
      <p:sp>
        <p:nvSpPr>
          <p:cNvPr id="36" name="Text 34"/>
          <p:cNvSpPr/>
          <p:nvPr/>
        </p:nvSpPr>
        <p:spPr>
          <a:xfrm>
            <a:off x="411480" y="589788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1965960" y="589788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보기 편하게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4114800" y="589788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 크기·줄 간격 조정/저장</a:t>
            </a:r>
            <a:endParaRPr lang="en-US" sz="1260" dirty="0"/>
          </a:p>
        </p:txBody>
      </p:sp>
      <p:sp>
        <p:nvSpPr>
          <p:cNvPr id="39" name="Text 37"/>
          <p:cNvSpPr/>
          <p:nvPr/>
        </p:nvSpPr>
        <p:spPr>
          <a:xfrm>
            <a:off x="7772400" y="589788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친화 사용 환경 제공</a:t>
            </a:r>
            <a:endParaRPr lang="en-US" sz="1260" dirty="0"/>
          </a:p>
        </p:txBody>
      </p:sp>
      <p:sp>
        <p:nvSpPr>
          <p:cNvPr id="40" name="Text 38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3/10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페이지별 상세 정리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메인·채용·AI·마이페이지·접근성 기능이 서로 다른 전환 역할 수행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155448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페이지/기능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2057400" y="1444752"/>
            <a:ext cx="246888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4526280" y="1444752"/>
            <a:ext cx="411480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구성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8641080" y="1444752"/>
            <a:ext cx="306324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제품적 의미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랜딩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2057400" y="226771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서비스의 첫 진입 허브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4526280" y="2267712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히어로, AI 소개, 추천 채용, 후기, 회원가입/로그인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8641080" y="2267712"/>
            <a:ext cx="3063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관심을 채용 탐색 또는 AI 체험으로 분기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15544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2057400" y="3090672"/>
            <a:ext cx="24688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구직 행동이 일어나는 핵심 페이지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4526280" y="3090672"/>
            <a:ext cx="411480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공고 카드, 카테고리 필터, 상세 모달, 찜, 즉시 지원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8641080" y="3090672"/>
            <a:ext cx="306324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방문자를 지원자로 전환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502920" y="3913632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취업지원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2057400" y="391363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기반 취업 준비 기능 쇼케이스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526280" y="3913632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이력서 작성, 증명사진 생성, 모의면접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8641080" y="3913632"/>
            <a:ext cx="3063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가입·프리미엄 전환을 설득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15544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마이페이지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2057400" y="4736592"/>
            <a:ext cx="24688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활동 관리 허브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4526280" y="4736592"/>
            <a:ext cx="411480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지원현황, 찜한 공고, 이력서, 구독, 문의 관리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8641080" y="4736592"/>
            <a:ext cx="306324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재방문과 지속 사용을 유도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502920" y="5559552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보기 편하게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2057400" y="555955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사용자를 위한 전역 보조 기능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4526280" y="5559552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 크기, 줄 간격, 저장, 초기화</a:t>
            </a:r>
            <a:endParaRPr lang="en-US" sz="1340" dirty="0"/>
          </a:p>
        </p:txBody>
      </p:sp>
      <p:sp>
        <p:nvSpPr>
          <p:cNvPr id="31" name="Text 29"/>
          <p:cNvSpPr/>
          <p:nvPr/>
        </p:nvSpPr>
        <p:spPr>
          <a:xfrm>
            <a:off x="8641080" y="5559552"/>
            <a:ext cx="3063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타깃 친화성을 실제 기능으로 구현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4/10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플로우 정리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방문자의 관심이 탐색, 지원, 저장, 재방문으로 이어지는 구조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146304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플로우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374904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 경로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5715000" y="1417320"/>
            <a:ext cx="265176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목적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366760" y="1417320"/>
            <a:ext cx="333756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서비스가 유도하는 행동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02920" y="2141220"/>
            <a:ext cx="1463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방문자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965960" y="2141220"/>
            <a:ext cx="3749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진입 → 서비스 이해 → 회원가입/로그인 또는 기능 탐색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715000" y="2141220"/>
            <a:ext cx="26517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서비스가 나에게 맞는지 파악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66760" y="2141220"/>
            <a:ext cx="33375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가입, 채용공고 확인, AI 기능 체험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02920" y="2865120"/>
            <a:ext cx="1463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 탐색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1965960" y="2865120"/>
            <a:ext cx="3749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메인/헤더 → 채용공고 → 상세 모달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715000" y="2865120"/>
            <a:ext cx="26517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원하는 일자리 찾기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366760" y="2865120"/>
            <a:ext cx="33375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찜하기 또는 즉시 지원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02920" y="3589020"/>
            <a:ext cx="1463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 관리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965960" y="3589020"/>
            <a:ext cx="3749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 지원 → 마이페이지 반영 → 지원현황 확인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715000" y="3589020"/>
            <a:ext cx="26517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내가 지원한 공고 관리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366760" y="3589020"/>
            <a:ext cx="33375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재방문, 진행 상태 확인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02920" y="4312920"/>
            <a:ext cx="1463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취업지원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1965960" y="4312920"/>
            <a:ext cx="3749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메인/헤더 → AI 취업지원 → 이력서/사진/면접 기능 확인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715000" y="4312920"/>
            <a:ext cx="26517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 부담 해소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366760" y="4312920"/>
            <a:ext cx="33375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기능 사용 또는 프리미엄 전환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02920" y="5036820"/>
            <a:ext cx="1463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 설정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1965960" y="5036820"/>
            <a:ext cx="3749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보기 편하게 → 글자 크기/줄 간격 조정 → 저장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715000" y="5036820"/>
            <a:ext cx="26517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편하게 읽고 사용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366760" y="5036820"/>
            <a:ext cx="33375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개인화된 사용 환경 유지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1234440" y="5989320"/>
            <a:ext cx="2201418" cy="34747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인지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3527298" y="6083137"/>
            <a:ext cx="128016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46754" y="5989320"/>
            <a:ext cx="2201418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6039612" y="6083137"/>
            <a:ext cx="128016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59068" y="5989320"/>
            <a:ext cx="2201418" cy="347472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지원/저장</a:t>
            </a:r>
            <a:endParaRPr lang="en-US" sz="1440" dirty="0"/>
          </a:p>
        </p:txBody>
      </p:sp>
      <p:sp>
        <p:nvSpPr>
          <p:cNvPr id="37" name="Text 35"/>
          <p:cNvSpPr/>
          <p:nvPr/>
        </p:nvSpPr>
        <p:spPr>
          <a:xfrm>
            <a:off x="8551926" y="6083137"/>
            <a:ext cx="128016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71382" y="5989320"/>
            <a:ext cx="2201418" cy="347472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관리/재방문</a:t>
            </a:r>
            <a:endParaRPr lang="en-US" sz="1440" dirty="0"/>
          </a:p>
        </p:txBody>
      </p:sp>
      <p:sp>
        <p:nvSpPr>
          <p:cNvPr id="39" name="Text 37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5/10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 구조 관점 해석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여정을 5단계 제품 퍼널로 해석 가능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1918411" cy="457200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유입/설득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2695651" y="15407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15107" y="1417320"/>
            <a:ext cx="1918411" cy="4572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 유도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924958" y="15407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44414" y="1417320"/>
            <a:ext cx="1918411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준비 보조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7154266" y="15407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73722" y="1417320"/>
            <a:ext cx="1918411" cy="457200"/>
          </a:xfrm>
          <a:prstGeom prst="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유지/관리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9383573" y="15407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3029" y="1417320"/>
            <a:ext cx="1918411" cy="457200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개인화/접근성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640080" y="2240280"/>
            <a:ext cx="1325880" cy="69342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1965960" y="2240280"/>
            <a:ext cx="2331720" cy="69342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4297680" y="2240280"/>
            <a:ext cx="3977640" cy="69342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해당 기능/페이지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275320" y="2240280"/>
            <a:ext cx="3291840" cy="69342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제품적 의미</a:t>
            </a:r>
            <a:endParaRPr lang="en-US" sz="1480" dirty="0"/>
          </a:p>
        </p:txBody>
      </p:sp>
      <p:sp>
        <p:nvSpPr>
          <p:cNvPr id="21" name="Text 19"/>
          <p:cNvSpPr/>
          <p:nvPr/>
        </p:nvSpPr>
        <p:spPr>
          <a:xfrm>
            <a:off x="640080" y="2933700"/>
            <a:ext cx="132588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</a:t>
            </a:r>
            <a:endParaRPr lang="en-US" sz="1480" dirty="0"/>
          </a:p>
        </p:txBody>
      </p:sp>
      <p:sp>
        <p:nvSpPr>
          <p:cNvPr id="22" name="Text 20"/>
          <p:cNvSpPr/>
          <p:nvPr/>
        </p:nvSpPr>
        <p:spPr>
          <a:xfrm>
            <a:off x="1965960" y="2933700"/>
            <a:ext cx="233172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필요성 인식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4297680" y="2933700"/>
            <a:ext cx="39776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랜딩, 히어로, AI 소개, 합격 후기</a:t>
            </a:r>
            <a:endParaRPr lang="en-US" sz="1480" dirty="0"/>
          </a:p>
        </p:txBody>
      </p:sp>
      <p:sp>
        <p:nvSpPr>
          <p:cNvPr id="24" name="Text 22"/>
          <p:cNvSpPr/>
          <p:nvPr/>
        </p:nvSpPr>
        <p:spPr>
          <a:xfrm>
            <a:off x="8275320" y="2933700"/>
            <a:ext cx="32918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구직자에게 신뢰와 관심 형성</a:t>
            </a:r>
            <a:endParaRPr lang="en-US" sz="1480" dirty="0"/>
          </a:p>
        </p:txBody>
      </p:sp>
      <p:sp>
        <p:nvSpPr>
          <p:cNvPr id="25" name="Text 23"/>
          <p:cNvSpPr/>
          <p:nvPr/>
        </p:nvSpPr>
        <p:spPr>
          <a:xfrm>
            <a:off x="640080" y="3627120"/>
            <a:ext cx="132588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</a:t>
            </a:r>
            <a:endParaRPr lang="en-US" sz="1480" dirty="0"/>
          </a:p>
        </p:txBody>
      </p:sp>
      <p:sp>
        <p:nvSpPr>
          <p:cNvPr id="26" name="Text 24"/>
          <p:cNvSpPr/>
          <p:nvPr/>
        </p:nvSpPr>
        <p:spPr>
          <a:xfrm>
            <a:off x="1965960" y="3627120"/>
            <a:ext cx="233172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구직 행동 발생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4297680" y="3627120"/>
            <a:ext cx="397764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채용공고, 상세 모달, 찜, 즉시 지원</a:t>
            </a:r>
            <a:endParaRPr lang="en-US" sz="1480" dirty="0"/>
          </a:p>
        </p:txBody>
      </p:sp>
      <p:sp>
        <p:nvSpPr>
          <p:cNvPr id="28" name="Text 26"/>
          <p:cNvSpPr/>
          <p:nvPr/>
        </p:nvSpPr>
        <p:spPr>
          <a:xfrm>
            <a:off x="8275320" y="3627120"/>
            <a:ext cx="329184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방문자를 지원자로 전환</a:t>
            </a:r>
            <a:endParaRPr lang="en-US" sz="1480" dirty="0"/>
          </a:p>
        </p:txBody>
      </p:sp>
      <p:sp>
        <p:nvSpPr>
          <p:cNvPr id="29" name="Text 27"/>
          <p:cNvSpPr/>
          <p:nvPr/>
        </p:nvSpPr>
        <p:spPr>
          <a:xfrm>
            <a:off x="640080" y="4320540"/>
            <a:ext cx="132588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1965960" y="4320540"/>
            <a:ext cx="233172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 지원</a:t>
            </a:r>
            <a:endParaRPr lang="en-US" sz="1480" dirty="0"/>
          </a:p>
        </p:txBody>
      </p:sp>
      <p:sp>
        <p:nvSpPr>
          <p:cNvPr id="31" name="Text 29"/>
          <p:cNvSpPr/>
          <p:nvPr/>
        </p:nvSpPr>
        <p:spPr>
          <a:xfrm>
            <a:off x="4297680" y="4320540"/>
            <a:ext cx="39776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이력서, AI 증명사진, AI 모의면접</a:t>
            </a:r>
            <a:endParaRPr lang="en-US" sz="1480" dirty="0"/>
          </a:p>
        </p:txBody>
      </p:sp>
      <p:sp>
        <p:nvSpPr>
          <p:cNvPr id="32" name="Text 30"/>
          <p:cNvSpPr/>
          <p:nvPr/>
        </p:nvSpPr>
        <p:spPr>
          <a:xfrm>
            <a:off x="8275320" y="4320540"/>
            <a:ext cx="32918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취업 준비 장벽을 낮춤</a:t>
            </a:r>
            <a:endParaRPr lang="en-US" sz="1480" dirty="0"/>
          </a:p>
        </p:txBody>
      </p:sp>
      <p:sp>
        <p:nvSpPr>
          <p:cNvPr id="33" name="Text 31"/>
          <p:cNvSpPr/>
          <p:nvPr/>
        </p:nvSpPr>
        <p:spPr>
          <a:xfrm>
            <a:off x="640080" y="5013960"/>
            <a:ext cx="132588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4단계</a:t>
            </a:r>
            <a:endParaRPr lang="en-US" sz="1480" dirty="0"/>
          </a:p>
        </p:txBody>
      </p:sp>
      <p:sp>
        <p:nvSpPr>
          <p:cNvPr id="34" name="Text 32"/>
          <p:cNvSpPr/>
          <p:nvPr/>
        </p:nvSpPr>
        <p:spPr>
          <a:xfrm>
            <a:off x="1965960" y="5013960"/>
            <a:ext cx="233172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활동 이력 관리</a:t>
            </a:r>
            <a:endParaRPr lang="en-US" sz="1480" dirty="0"/>
          </a:p>
        </p:txBody>
      </p:sp>
      <p:sp>
        <p:nvSpPr>
          <p:cNvPr id="35" name="Text 33"/>
          <p:cNvSpPr/>
          <p:nvPr/>
        </p:nvSpPr>
        <p:spPr>
          <a:xfrm>
            <a:off x="4297680" y="5013960"/>
            <a:ext cx="397764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마이페이지, 지원현황, 찜한 공고</a:t>
            </a:r>
            <a:endParaRPr lang="en-US" sz="1480" dirty="0"/>
          </a:p>
        </p:txBody>
      </p:sp>
      <p:sp>
        <p:nvSpPr>
          <p:cNvPr id="36" name="Text 34"/>
          <p:cNvSpPr/>
          <p:nvPr/>
        </p:nvSpPr>
        <p:spPr>
          <a:xfrm>
            <a:off x="8275320" y="5013960"/>
            <a:ext cx="3291840" cy="69342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재방문과 지속 사용 유도</a:t>
            </a:r>
            <a:endParaRPr lang="en-US" sz="1480" dirty="0"/>
          </a:p>
        </p:txBody>
      </p:sp>
      <p:sp>
        <p:nvSpPr>
          <p:cNvPr id="37" name="Text 35"/>
          <p:cNvSpPr/>
          <p:nvPr/>
        </p:nvSpPr>
        <p:spPr>
          <a:xfrm>
            <a:off x="640080" y="5707380"/>
            <a:ext cx="132588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5단계</a:t>
            </a:r>
            <a:endParaRPr lang="en-US" sz="1480" dirty="0"/>
          </a:p>
        </p:txBody>
      </p:sp>
      <p:sp>
        <p:nvSpPr>
          <p:cNvPr id="38" name="Text 36"/>
          <p:cNvSpPr/>
          <p:nvPr/>
        </p:nvSpPr>
        <p:spPr>
          <a:xfrm>
            <a:off x="1965960" y="5707380"/>
            <a:ext cx="233172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편의 개선</a:t>
            </a:r>
            <a:endParaRPr lang="en-US" sz="1480" dirty="0"/>
          </a:p>
        </p:txBody>
      </p:sp>
      <p:sp>
        <p:nvSpPr>
          <p:cNvPr id="39" name="Text 37"/>
          <p:cNvSpPr/>
          <p:nvPr/>
        </p:nvSpPr>
        <p:spPr>
          <a:xfrm>
            <a:off x="4297680" y="5707380"/>
            <a:ext cx="39776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보기 편하게 기능</a:t>
            </a:r>
            <a:endParaRPr lang="en-US" sz="1480" dirty="0"/>
          </a:p>
        </p:txBody>
      </p:sp>
      <p:sp>
        <p:nvSpPr>
          <p:cNvPr id="40" name="Text 38"/>
          <p:cNvSpPr/>
          <p:nvPr/>
        </p:nvSpPr>
        <p:spPr>
          <a:xfrm>
            <a:off x="8275320" y="5707380"/>
            <a:ext cx="3291840" cy="693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친화 서비스로 차별화</a:t>
            </a:r>
            <a:endParaRPr lang="en-US" sz="1480" dirty="0"/>
          </a:p>
        </p:txBody>
      </p:sp>
      <p:sp>
        <p:nvSpPr>
          <p:cNvPr id="41" name="Text 39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6/10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 컨셉 정리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신뢰감 있는 공공서비스형 톤에 시니어 친화 UI 언어를 결합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2011680" cy="724989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 요소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06040" y="1463040"/>
            <a:ext cx="4617720" cy="724989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방식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223760" y="1463040"/>
            <a:ext cx="4389120" cy="724989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2188029"/>
            <a:ext cx="201168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컬러 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06040" y="2188029"/>
            <a:ext cx="46177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네이비, 블루, 화이트 중심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88029"/>
            <a:ext cx="43891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신뢰감, 안정감, 공공서비스형 인상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94360" y="2913017"/>
            <a:ext cx="201168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레이아웃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06040" y="2913017"/>
            <a:ext cx="46177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카드형 정보 구조, 넉넉한 여백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0" y="2913017"/>
            <a:ext cx="43891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정보를 빠르게 구분하고 읽기 쉽게 구성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94360" y="3638006"/>
            <a:ext cx="201168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버튼/CTA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606040" y="3638006"/>
            <a:ext cx="46177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버튼, 명확한 행동 문구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23760" y="3638006"/>
            <a:ext cx="43891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사용자의 클릭 부담 감소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4360" y="4362994"/>
            <a:ext cx="201168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카피라이팅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606040" y="4362994"/>
            <a:ext cx="46177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설명형 문장, 친근한 표현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4362994"/>
            <a:ext cx="43891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기술적 부담을 낮추고 안내감 강화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94360" y="5087983"/>
            <a:ext cx="201168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데모 표현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606040" y="5087983"/>
            <a:ext cx="46177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라벨, 진행 단계, Before/After, 분석 중 표현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23760" y="5087983"/>
            <a:ext cx="4389120" cy="724989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실제로 도와주는 듯한 체험감 제공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94360" y="5812971"/>
            <a:ext cx="201168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감성 요소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606040" y="5812971"/>
            <a:ext cx="46177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합격 후기, 브랜드 영상 배경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23760" y="5812971"/>
            <a:ext cx="4389120" cy="724989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중심 설명에 신뢰와 정서적 설득 보완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7/10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강점 요약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타깃, 통합 흐름, AI 기능, 시니어 친화성이 핵심 경쟁력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2286000" cy="627017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2971800" y="1463040"/>
            <a:ext cx="8549640" cy="627017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685800" y="2090057"/>
            <a:ext cx="22860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타깃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2971800" y="2090057"/>
            <a:ext cx="85496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구직자에 집중한 메시지와 UI 구조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685800" y="2717074"/>
            <a:ext cx="228600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통합형 서비스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2971800" y="2717074"/>
            <a:ext cx="854964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일자리 탐색, 취업 준비, 지원 관리가 한 흐름으로 연결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685800" y="3344091"/>
            <a:ext cx="22860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기능의 쉬운 표현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2971800" y="3344091"/>
            <a:ext cx="85496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복잡한 AI 기술을 이력서, 사진, 면접이라는 실용 기능으로 설명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85800" y="3971109"/>
            <a:ext cx="228600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 중심 설계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2971800" y="3971109"/>
            <a:ext cx="854964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메인에서 채용공고, AI 기능, 회원가입으로 자연스럽게 이동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85800" y="4598126"/>
            <a:ext cx="22860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친화 UI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2971800" y="4598126"/>
            <a:ext cx="85496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 크기, 줄 간격, 카드형 정보 구조 등 사용 편의성 반영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685800" y="5225143"/>
            <a:ext cx="228600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퍼널 구조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2971800" y="5225143"/>
            <a:ext cx="8549640" cy="627017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방문자가 서비스 이해 후 지원, 가입, 프리미엄 기능으로 이어질 수 있는 구조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685800" y="5989320"/>
            <a:ext cx="10835640" cy="43891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평가: 넥스트파트너는 시니어 구직자의 재취업 여정을 한 흐름으로 압축한 “AI 기반 시니어 취업 전환 플랫폼”입니다.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8/10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재취업 전환 퍼널 관점 분석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이력서 작성 – 대화형 챗봇 UX (제안)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폼 입력 대신 챗봇과의 대화로 경력을 정리해 이력서 초안을 자동 완성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Line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Cell"/>
          <p:cNvSpPr/>
          <p:nvPr/>
        </p:nvSpPr>
        <p:spPr>
          <a:xfrm>
            <a:off x="502920" y="1444752"/>
            <a:ext cx="155448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340" dirty="0"/>
          </a:p>
        </p:txBody>
      </p:sp>
      <p:sp>
        <p:nvSpPr>
          <p:cNvPr id="9" name="Cell"/>
          <p:cNvSpPr/>
          <p:nvPr/>
        </p:nvSpPr>
        <p:spPr>
          <a:xfrm>
            <a:off x="2057400" y="1444752"/>
            <a:ext cx="246888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방식</a:t>
            </a:r>
            <a:endParaRPr lang="en-US" sz="1340" dirty="0"/>
          </a:p>
        </p:txBody>
      </p:sp>
      <p:sp>
        <p:nvSpPr>
          <p:cNvPr id="10" name="Cell"/>
          <p:cNvSpPr/>
          <p:nvPr/>
        </p:nvSpPr>
        <p:spPr>
          <a:xfrm>
            <a:off x="4526280" y="1444752"/>
            <a:ext cx="411480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제안 방식 (채팅형)</a:t>
            </a:r>
            <a:endParaRPr lang="en-US" sz="1340" dirty="0"/>
          </a:p>
        </p:txBody>
      </p:sp>
      <p:sp>
        <p:nvSpPr>
          <p:cNvPr id="11" name="Cell"/>
          <p:cNvSpPr/>
          <p:nvPr/>
        </p:nvSpPr>
        <p:spPr>
          <a:xfrm>
            <a:off x="8641080" y="1444752"/>
            <a:ext cx="3063240" cy="82296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기대 효과</a:t>
            </a:r>
            <a:endParaRPr lang="en-US" sz="1340" dirty="0"/>
          </a:p>
        </p:txBody>
      </p:sp>
      <p:sp>
        <p:nvSpPr>
          <p:cNvPr id="12" name="Cell"/>
          <p:cNvSpPr/>
          <p:nvPr/>
        </p:nvSpPr>
        <p:spPr>
          <a:xfrm>
            <a:off x="502920" y="2267712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 입력</a:t>
            </a:r>
            <a:endParaRPr lang="en-US" sz="1340" dirty="0"/>
          </a:p>
        </p:txBody>
      </p:sp>
      <p:sp>
        <p:nvSpPr>
          <p:cNvPr id="13" name="Cell"/>
          <p:cNvSpPr/>
          <p:nvPr/>
        </p:nvSpPr>
        <p:spPr>
          <a:xfrm>
            <a:off x="2057400" y="226771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항목별 폼에 직접 입력(경력·학력·자격 등)</a:t>
            </a:r>
            <a:endParaRPr lang="en-US" sz="1340" dirty="0"/>
          </a:p>
        </p:txBody>
      </p:sp>
      <p:sp>
        <p:nvSpPr>
          <p:cNvPr id="14" name="Cell"/>
          <p:cNvSpPr/>
          <p:nvPr/>
        </p:nvSpPr>
        <p:spPr>
          <a:xfrm>
            <a:off x="4526280" y="2267712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챗봇이 순서대로 질문하고 답변을 대화로 입력</a:t>
            </a:r>
            <a:endParaRPr lang="en-US" sz="1340" dirty="0"/>
          </a:p>
        </p:txBody>
      </p:sp>
      <p:sp>
        <p:nvSpPr>
          <p:cNvPr id="15" name="Cell"/>
          <p:cNvSpPr/>
          <p:nvPr/>
        </p:nvSpPr>
        <p:spPr>
          <a:xfrm>
            <a:off x="8641080" y="2267712"/>
            <a:ext cx="3063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방법 고민 없이 자연스럽게 작성 시작</a:t>
            </a:r>
            <a:endParaRPr lang="en-US" sz="1340" dirty="0"/>
          </a:p>
        </p:txBody>
      </p:sp>
      <p:sp>
        <p:nvSpPr>
          <p:cNvPr id="16" name="Cell"/>
          <p:cNvSpPr/>
          <p:nvPr/>
        </p:nvSpPr>
        <p:spPr>
          <a:xfrm>
            <a:off x="502920" y="3090672"/>
            <a:ext cx="15544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 구성</a:t>
            </a:r>
            <a:endParaRPr lang="en-US" sz="1340" dirty="0"/>
          </a:p>
        </p:txBody>
      </p:sp>
      <p:sp>
        <p:nvSpPr>
          <p:cNvPr id="17" name="Cell"/>
          <p:cNvSpPr/>
          <p:nvPr/>
        </p:nvSpPr>
        <p:spPr>
          <a:xfrm>
            <a:off x="2057400" y="3090672"/>
            <a:ext cx="24688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항목을 한 화면에 동시 노출</a:t>
            </a:r>
            <a:endParaRPr lang="en-US" sz="1340" dirty="0"/>
          </a:p>
        </p:txBody>
      </p:sp>
      <p:sp>
        <p:nvSpPr>
          <p:cNvPr id="18" name="Cell"/>
          <p:cNvSpPr/>
          <p:nvPr/>
        </p:nvSpPr>
        <p:spPr>
          <a:xfrm>
            <a:off x="4526280" y="3090672"/>
            <a:ext cx="411480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답변에 따라 다음 질문이 순차적으로 이어짐</a:t>
            </a:r>
            <a:endParaRPr lang="en-US" sz="1340" dirty="0"/>
          </a:p>
        </p:txBody>
      </p:sp>
      <p:sp>
        <p:nvSpPr>
          <p:cNvPr id="19" name="Cell"/>
          <p:cNvSpPr/>
          <p:nvPr/>
        </p:nvSpPr>
        <p:spPr>
          <a:xfrm>
            <a:off x="8641080" y="3090672"/>
            <a:ext cx="306324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사용자의 입력 부담과 화면 복잡도 감소</a:t>
            </a:r>
            <a:endParaRPr lang="en-US" sz="1340" dirty="0"/>
          </a:p>
        </p:txBody>
      </p:sp>
      <p:sp>
        <p:nvSpPr>
          <p:cNvPr id="20" name="Cell"/>
          <p:cNvSpPr/>
          <p:nvPr/>
        </p:nvSpPr>
        <p:spPr>
          <a:xfrm>
            <a:off x="502920" y="3913632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초안 생성</a:t>
            </a:r>
            <a:endParaRPr lang="en-US" sz="1340" dirty="0"/>
          </a:p>
        </p:txBody>
      </p:sp>
      <p:sp>
        <p:nvSpPr>
          <p:cNvPr id="21" name="Cell"/>
          <p:cNvSpPr/>
          <p:nvPr/>
        </p:nvSpPr>
        <p:spPr>
          <a:xfrm>
            <a:off x="2057400" y="391363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완료 후 저장 버튼 클릭</a:t>
            </a:r>
            <a:endParaRPr lang="en-US" sz="1340" dirty="0"/>
          </a:p>
        </p:txBody>
      </p:sp>
      <p:sp>
        <p:nvSpPr>
          <p:cNvPr id="22" name="Cell"/>
          <p:cNvSpPr/>
          <p:nvPr/>
        </p:nvSpPr>
        <p:spPr>
          <a:xfrm>
            <a:off x="4526280" y="3913632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 종료 시 AI가 답변을 정리해 초안 자동 생성</a:t>
            </a:r>
            <a:endParaRPr lang="en-US" sz="1340" dirty="0"/>
          </a:p>
        </p:txBody>
      </p:sp>
      <p:sp>
        <p:nvSpPr>
          <p:cNvPr id="23" name="Cell"/>
          <p:cNvSpPr/>
          <p:nvPr/>
        </p:nvSpPr>
        <p:spPr>
          <a:xfrm>
            <a:off x="8641080" y="3913632"/>
            <a:ext cx="3063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별도 조작 없이 이력서 초안 완성</a:t>
            </a:r>
            <a:endParaRPr lang="en-US" sz="1340" dirty="0"/>
          </a:p>
        </p:txBody>
      </p:sp>
      <p:sp>
        <p:nvSpPr>
          <p:cNvPr id="24" name="Cell"/>
          <p:cNvSpPr/>
          <p:nvPr/>
        </p:nvSpPr>
        <p:spPr>
          <a:xfrm>
            <a:off x="502920" y="4736592"/>
            <a:ext cx="15544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수정·보완</a:t>
            </a:r>
            <a:endParaRPr lang="en-US" sz="1340" dirty="0"/>
          </a:p>
        </p:txBody>
      </p:sp>
      <p:sp>
        <p:nvSpPr>
          <p:cNvPr id="25" name="Cell"/>
          <p:cNvSpPr/>
          <p:nvPr/>
        </p:nvSpPr>
        <p:spPr>
          <a:xfrm>
            <a:off x="2057400" y="4736592"/>
            <a:ext cx="246888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항목을 다시 열어 수정</a:t>
            </a:r>
            <a:endParaRPr lang="en-US" sz="1340" dirty="0"/>
          </a:p>
        </p:txBody>
      </p:sp>
      <p:sp>
        <p:nvSpPr>
          <p:cNvPr id="26" name="Cell"/>
          <p:cNvSpPr/>
          <p:nvPr/>
        </p:nvSpPr>
        <p:spPr>
          <a:xfrm>
            <a:off x="4526280" y="4736592"/>
            <a:ext cx="411480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챗봇에게 추가로 답하거나 되물어 보완</a:t>
            </a:r>
            <a:endParaRPr lang="en-US" sz="1340" dirty="0"/>
          </a:p>
        </p:txBody>
      </p:sp>
      <p:sp>
        <p:nvSpPr>
          <p:cNvPr id="27" name="Cell"/>
          <p:cNvSpPr/>
          <p:nvPr/>
        </p:nvSpPr>
        <p:spPr>
          <a:xfrm>
            <a:off x="8641080" y="4736592"/>
            <a:ext cx="3063240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대화만으로 이력서 내용 보완 가능</a:t>
            </a:r>
            <a:endParaRPr lang="en-US" sz="1340" dirty="0"/>
          </a:p>
        </p:txBody>
      </p:sp>
      <p:sp>
        <p:nvSpPr>
          <p:cNvPr id="28" name="Cell"/>
          <p:cNvSpPr/>
          <p:nvPr/>
        </p:nvSpPr>
        <p:spPr>
          <a:xfrm>
            <a:off x="502920" y="5559552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경험</a:t>
            </a:r>
            <a:endParaRPr lang="en-US" sz="1340" dirty="0"/>
          </a:p>
        </p:txBody>
      </p:sp>
      <p:sp>
        <p:nvSpPr>
          <p:cNvPr id="29" name="Cell"/>
          <p:cNvSpPr/>
          <p:nvPr/>
        </p:nvSpPr>
        <p:spPr>
          <a:xfrm>
            <a:off x="2057400" y="555955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서류를 작성하는 듯한 딱딱한 입력 과정</a:t>
            </a:r>
            <a:endParaRPr lang="en-US" sz="1340" dirty="0"/>
          </a:p>
        </p:txBody>
      </p:sp>
      <p:sp>
        <p:nvSpPr>
          <p:cNvPr id="30" name="Cell"/>
          <p:cNvSpPr/>
          <p:nvPr/>
        </p:nvSpPr>
        <p:spPr>
          <a:xfrm>
            <a:off x="4526280" y="5559552"/>
            <a:ext cx="4114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상담받듯 편안하게 이어지는 대화형 과정</a:t>
            </a:r>
            <a:endParaRPr lang="en-US" sz="1340" dirty="0"/>
          </a:p>
        </p:txBody>
      </p:sp>
      <p:sp>
        <p:nvSpPr>
          <p:cNvPr id="31" name="Cell"/>
          <p:cNvSpPr/>
          <p:nvPr/>
        </p:nvSpPr>
        <p:spPr>
          <a:xfrm>
            <a:off x="8641080" y="5559552"/>
            <a:ext cx="3063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과정 자체의 심리적 부담 완화</a:t>
            </a:r>
            <a:endParaRPr lang="en-US" sz="1340" dirty="0"/>
          </a:p>
        </p:txBody>
      </p:sp>
      <p:sp>
        <p:nvSpPr>
          <p:cNvPr id="32" name="Text F1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9/10</a:t>
            </a:r>
            <a:endParaRPr lang="en-US" sz="850" dirty="0"/>
          </a:p>
        </p:txBody>
      </p:sp>
      <p:sp>
        <p:nvSpPr>
          <p:cNvPr id="33" name="Text F2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기능 아이디어 제안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3774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증명사진 등록 유도 팝업 플로우 (제안)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8412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증명사진 등록 직전 AI 증명사진 기능을 안내하고, 선택에 따라 다른 화면으로 연결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21240" y="438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PARTNER</a:t>
            </a:r>
            <a:endParaRPr lang="en-US" sz="1100" dirty="0"/>
          </a:p>
        </p:txBody>
      </p:sp>
      <p:sp>
        <p:nvSpPr>
          <p:cNvPr id="7" name="Line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8" name="Cell"/>
          <p:cNvSpPr/>
          <p:nvPr/>
        </p:nvSpPr>
        <p:spPr>
          <a:xfrm>
            <a:off x="502920" y="1417320"/>
            <a:ext cx="146304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9" name="Cell"/>
          <p:cNvSpPr/>
          <p:nvPr/>
        </p:nvSpPr>
        <p:spPr>
          <a:xfrm>
            <a:off x="1965960" y="1417320"/>
            <a:ext cx="374904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트리거 / 화면</a:t>
            </a:r>
            <a:endParaRPr lang="en-US" sz="1300" dirty="0"/>
          </a:p>
        </p:txBody>
      </p:sp>
      <p:sp>
        <p:nvSpPr>
          <p:cNvPr id="10" name="Cell"/>
          <p:cNvSpPr/>
          <p:nvPr/>
        </p:nvSpPr>
        <p:spPr>
          <a:xfrm>
            <a:off x="5715000" y="1417320"/>
            <a:ext cx="265176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행동</a:t>
            </a:r>
            <a:endParaRPr lang="en-US" sz="1300" dirty="0"/>
          </a:p>
        </p:txBody>
      </p:sp>
      <p:sp>
        <p:nvSpPr>
          <p:cNvPr id="11" name="Cell"/>
          <p:cNvSpPr/>
          <p:nvPr/>
        </p:nvSpPr>
        <p:spPr>
          <a:xfrm>
            <a:off x="8366760" y="1417320"/>
            <a:ext cx="3337560" cy="723900"/>
          </a:xfrm>
          <a:prstGeom prst="rect">
            <a:avLst/>
          </a:prstGeom>
          <a:solidFill>
            <a:srgbClr val="14213D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동작</a:t>
            </a:r>
            <a:endParaRPr lang="en-US" sz="1300" dirty="0"/>
          </a:p>
        </p:txBody>
      </p:sp>
      <p:sp>
        <p:nvSpPr>
          <p:cNvPr id="12" name="Cell"/>
          <p:cNvSpPr/>
          <p:nvPr/>
        </p:nvSpPr>
        <p:spPr>
          <a:xfrm>
            <a:off x="502920" y="2141220"/>
            <a:ext cx="1463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 · 팝업 노출</a:t>
            </a:r>
            <a:endParaRPr lang="en-US" sz="1300" dirty="0"/>
          </a:p>
        </p:txBody>
      </p:sp>
      <p:sp>
        <p:nvSpPr>
          <p:cNvPr id="13" name="Cell"/>
          <p:cNvSpPr/>
          <p:nvPr/>
        </p:nvSpPr>
        <p:spPr>
          <a:xfrm>
            <a:off x="1965960" y="2141220"/>
            <a:ext cx="3749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이력서 작성 중 증명사진 등록 단계 진입 직전</a:t>
            </a:r>
            <a:endParaRPr lang="en-US" sz="1300" dirty="0"/>
          </a:p>
        </p:txBody>
      </p:sp>
      <p:sp>
        <p:nvSpPr>
          <p:cNvPr id="14" name="Cell"/>
          <p:cNvSpPr/>
          <p:nvPr/>
        </p:nvSpPr>
        <p:spPr>
          <a:xfrm>
            <a:off x="5715000" y="2141220"/>
            <a:ext cx="26517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증명사진 등록 화면 진입</a:t>
            </a:r>
            <a:endParaRPr lang="en-US" sz="1300" dirty="0"/>
          </a:p>
        </p:txBody>
      </p:sp>
      <p:sp>
        <p:nvSpPr>
          <p:cNvPr id="15" name="Cell"/>
          <p:cNvSpPr/>
          <p:nvPr/>
        </p:nvSpPr>
        <p:spPr>
          <a:xfrm>
            <a:off x="8366760" y="2141220"/>
            <a:ext cx="33375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“AI 증명사진으로 더 좋은 사진을 만들어보세요” 안내 팝업 노출</a:t>
            </a:r>
            <a:endParaRPr lang="en-US" sz="1300" dirty="0"/>
          </a:p>
        </p:txBody>
      </p:sp>
      <p:sp>
        <p:nvSpPr>
          <p:cNvPr id="16" name="Cell"/>
          <p:cNvSpPr/>
          <p:nvPr/>
        </p:nvSpPr>
        <p:spPr>
          <a:xfrm>
            <a:off x="502920" y="2865120"/>
            <a:ext cx="1463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2-A · 알겠어요</a:t>
            </a:r>
            <a:endParaRPr lang="en-US" sz="1300" dirty="0"/>
          </a:p>
        </p:txBody>
      </p:sp>
      <p:sp>
        <p:nvSpPr>
          <p:cNvPr id="17" name="Cell"/>
          <p:cNvSpPr/>
          <p:nvPr/>
        </p:nvSpPr>
        <p:spPr>
          <a:xfrm>
            <a:off x="1965960" y="2865120"/>
            <a:ext cx="3749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팝업의 [알겠어요] 버튼 클릭</a:t>
            </a:r>
            <a:endParaRPr lang="en-US" sz="1300" dirty="0"/>
          </a:p>
        </p:txBody>
      </p:sp>
      <p:sp>
        <p:nvSpPr>
          <p:cNvPr id="18" name="Cell"/>
          <p:cNvSpPr/>
          <p:nvPr/>
        </p:nvSpPr>
        <p:spPr>
          <a:xfrm>
            <a:off x="5715000" y="2865120"/>
            <a:ext cx="26517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증명사진 기능 확인 의사 표현</a:t>
            </a:r>
            <a:endParaRPr lang="en-US" sz="1300" dirty="0"/>
          </a:p>
        </p:txBody>
      </p:sp>
      <p:sp>
        <p:nvSpPr>
          <p:cNvPr id="19" name="Cell"/>
          <p:cNvSpPr/>
          <p:nvPr/>
        </p:nvSpPr>
        <p:spPr>
          <a:xfrm>
            <a:off x="8366760" y="2865120"/>
            <a:ext cx="33375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중이던 이력서 임시 저장 후 AI 증명사진 상품 상세 페이지로 이동</a:t>
            </a:r>
            <a:endParaRPr lang="en-US" sz="1300" dirty="0"/>
          </a:p>
        </p:txBody>
      </p:sp>
      <p:sp>
        <p:nvSpPr>
          <p:cNvPr id="20" name="Cell"/>
          <p:cNvSpPr/>
          <p:nvPr/>
        </p:nvSpPr>
        <p:spPr>
          <a:xfrm>
            <a:off x="502920" y="3589020"/>
            <a:ext cx="1463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2-B · 아니요</a:t>
            </a:r>
            <a:endParaRPr lang="en-US" sz="1300" dirty="0"/>
          </a:p>
        </p:txBody>
      </p:sp>
      <p:sp>
        <p:nvSpPr>
          <p:cNvPr id="21" name="Cell"/>
          <p:cNvSpPr/>
          <p:nvPr/>
        </p:nvSpPr>
        <p:spPr>
          <a:xfrm>
            <a:off x="1965960" y="3589020"/>
            <a:ext cx="3749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팝업의 [아니요] 버튼 클릭</a:t>
            </a:r>
            <a:endParaRPr lang="en-US" sz="1300" dirty="0"/>
          </a:p>
        </p:txBody>
      </p:sp>
      <p:sp>
        <p:nvSpPr>
          <p:cNvPr id="22" name="Cell"/>
          <p:cNvSpPr/>
          <p:nvPr/>
        </p:nvSpPr>
        <p:spPr>
          <a:xfrm>
            <a:off x="5715000" y="3589020"/>
            <a:ext cx="26517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방식으로 계속 진행 희망</a:t>
            </a:r>
            <a:endParaRPr lang="en-US" sz="1300" dirty="0"/>
          </a:p>
        </p:txBody>
      </p:sp>
      <p:sp>
        <p:nvSpPr>
          <p:cNvPr id="23" name="Cell"/>
          <p:cNvSpPr/>
          <p:nvPr/>
        </p:nvSpPr>
        <p:spPr>
          <a:xfrm>
            <a:off x="8366760" y="3589020"/>
            <a:ext cx="33375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팝업 종료, 증명사진 등록 등 이력서 작성 계속 진행</a:t>
            </a:r>
            <a:endParaRPr lang="en-US" sz="1300" dirty="0"/>
          </a:p>
        </p:txBody>
      </p:sp>
      <p:sp>
        <p:nvSpPr>
          <p:cNvPr id="24" name="Cell"/>
          <p:cNvSpPr/>
          <p:nvPr/>
        </p:nvSpPr>
        <p:spPr>
          <a:xfrm>
            <a:off x="502920" y="4312920"/>
            <a:ext cx="1463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 · 재노출 정책</a:t>
            </a:r>
            <a:endParaRPr lang="en-US" sz="1300" dirty="0"/>
          </a:p>
        </p:txBody>
      </p:sp>
      <p:sp>
        <p:nvSpPr>
          <p:cNvPr id="25" name="Cell"/>
          <p:cNvSpPr/>
          <p:nvPr/>
        </p:nvSpPr>
        <p:spPr>
          <a:xfrm>
            <a:off x="1965960" y="4312920"/>
            <a:ext cx="374904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세션 내 등록 단계 재진입</a:t>
            </a:r>
            <a:endParaRPr lang="en-US" sz="1300" dirty="0"/>
          </a:p>
        </p:txBody>
      </p:sp>
      <p:sp>
        <p:nvSpPr>
          <p:cNvPr id="26" name="Cell"/>
          <p:cNvSpPr/>
          <p:nvPr/>
        </p:nvSpPr>
        <p:spPr>
          <a:xfrm>
            <a:off x="5715000" y="4312920"/>
            <a:ext cx="26517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별도 조작 없음</a:t>
            </a:r>
            <a:endParaRPr lang="en-US" sz="1300" dirty="0"/>
          </a:p>
        </p:txBody>
      </p:sp>
      <p:sp>
        <p:nvSpPr>
          <p:cNvPr id="27" name="Cell"/>
          <p:cNvSpPr/>
          <p:nvPr/>
        </p:nvSpPr>
        <p:spPr>
          <a:xfrm>
            <a:off x="8366760" y="4312920"/>
            <a:ext cx="3337560" cy="723900"/>
          </a:xfrm>
          <a:prstGeom prst="rect">
            <a:avLst/>
          </a:prstGeom>
          <a:solidFill>
            <a:srgbClr val="F2F7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세션당 1회만 노출해 반복 노출로 인한 피로도 방지</a:t>
            </a:r>
            <a:endParaRPr lang="en-US" sz="1300" dirty="0"/>
          </a:p>
        </p:txBody>
      </p:sp>
      <p:sp>
        <p:nvSpPr>
          <p:cNvPr id="28" name="Cell"/>
          <p:cNvSpPr/>
          <p:nvPr/>
        </p:nvSpPr>
        <p:spPr>
          <a:xfrm>
            <a:off x="502920" y="5036820"/>
            <a:ext cx="1463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4 · 이후 전환</a:t>
            </a:r>
            <a:endParaRPr lang="en-US" sz="1300" dirty="0"/>
          </a:p>
        </p:txBody>
      </p:sp>
      <p:sp>
        <p:nvSpPr>
          <p:cNvPr id="29" name="Cell"/>
          <p:cNvSpPr/>
          <p:nvPr/>
        </p:nvSpPr>
        <p:spPr>
          <a:xfrm>
            <a:off x="1965960" y="5036820"/>
            <a:ext cx="374904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[알겠어요] 선택 이후 화면</a:t>
            </a:r>
            <a:endParaRPr lang="en-US" sz="1300" dirty="0"/>
          </a:p>
        </p:txBody>
      </p:sp>
      <p:sp>
        <p:nvSpPr>
          <p:cNvPr id="30" name="Cell"/>
          <p:cNvSpPr/>
          <p:nvPr/>
        </p:nvSpPr>
        <p:spPr>
          <a:xfrm>
            <a:off x="5715000" y="5036820"/>
            <a:ext cx="26517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상품 상세 페이지에서 기능 확인</a:t>
            </a:r>
            <a:endParaRPr lang="en-US" sz="1300" dirty="0"/>
          </a:p>
        </p:txBody>
      </p:sp>
      <p:sp>
        <p:nvSpPr>
          <p:cNvPr id="31" name="Cell"/>
          <p:cNvSpPr/>
          <p:nvPr/>
        </p:nvSpPr>
        <p:spPr>
          <a:xfrm>
            <a:off x="8366760" y="5036820"/>
            <a:ext cx="333756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증명사진 유료 기능으로 자연스러운 전환 유도</a:t>
            </a:r>
            <a:endParaRPr lang="en-US" sz="1300" dirty="0"/>
          </a:p>
        </p:txBody>
      </p:sp>
      <p:sp>
        <p:nvSpPr>
          <p:cNvPr id="32" name="Pill"/>
          <p:cNvSpPr/>
          <p:nvPr/>
        </p:nvSpPr>
        <p:spPr>
          <a:xfrm>
            <a:off x="1234440" y="5989320"/>
            <a:ext cx="2201418" cy="34747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이력서 작성 중</a:t>
            </a:r>
            <a:endParaRPr lang="en-US" sz="1300" dirty="0"/>
          </a:p>
        </p:txBody>
      </p:sp>
      <p:sp>
        <p:nvSpPr>
          <p:cNvPr id="33" name="Arrow"/>
          <p:cNvSpPr/>
          <p:nvPr/>
        </p:nvSpPr>
        <p:spPr>
          <a:xfrm>
            <a:off x="3527298" y="6083137"/>
            <a:ext cx="128016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Pill"/>
          <p:cNvSpPr/>
          <p:nvPr/>
        </p:nvSpPr>
        <p:spPr>
          <a:xfrm>
            <a:off x="3746754" y="5989320"/>
            <a:ext cx="2201418" cy="34747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증명사진 등록 진입</a:t>
            </a:r>
            <a:endParaRPr lang="en-US" sz="1300" dirty="0"/>
          </a:p>
        </p:txBody>
      </p:sp>
      <p:sp>
        <p:nvSpPr>
          <p:cNvPr id="35" name="Arrow"/>
          <p:cNvSpPr/>
          <p:nvPr/>
        </p:nvSpPr>
        <p:spPr>
          <a:xfrm>
            <a:off x="6039612" y="6083137"/>
            <a:ext cx="128016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Pill"/>
          <p:cNvSpPr/>
          <p:nvPr/>
        </p:nvSpPr>
        <p:spPr>
          <a:xfrm>
            <a:off x="6259068" y="5989320"/>
            <a:ext cx="2201418" cy="34747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팝업 노출 · 선택</a:t>
            </a:r>
            <a:endParaRPr lang="en-US" sz="1300" dirty="0"/>
          </a:p>
        </p:txBody>
      </p:sp>
      <p:sp>
        <p:nvSpPr>
          <p:cNvPr id="37" name="Arrow"/>
          <p:cNvSpPr/>
          <p:nvPr/>
        </p:nvSpPr>
        <p:spPr>
          <a:xfrm>
            <a:off x="8551926" y="6083137"/>
            <a:ext cx="128016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Pill"/>
          <p:cNvSpPr/>
          <p:nvPr/>
        </p:nvSpPr>
        <p:spPr>
          <a:xfrm>
            <a:off x="8771382" y="5989320"/>
            <a:ext cx="2201418" cy="34747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분기 처리 완료</a:t>
            </a:r>
            <a:endParaRPr lang="en-US" sz="1300" dirty="0"/>
          </a:p>
        </p:txBody>
      </p:sp>
      <p:sp>
        <p:nvSpPr>
          <p:cNvPr id="39" name="Text F1"/>
          <p:cNvSpPr/>
          <p:nvPr/>
        </p:nvSpPr>
        <p:spPr>
          <a:xfrm>
            <a:off x="50292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넥스트파트너 사이트 구조 정리  |  10/10</a:t>
            </a:r>
            <a:endParaRPr lang="en-US" sz="850" dirty="0"/>
          </a:p>
        </p:txBody>
      </p:sp>
      <p:sp>
        <p:nvSpPr>
          <p:cNvPr id="40" name="Text F2"/>
          <p:cNvSpPr/>
          <p:nvPr/>
        </p:nvSpPr>
        <p:spPr>
          <a:xfrm>
            <a:off x="6446520" y="65653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기능 아이디어 제안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넥스트파트너 사이트 구조 정리</dc:title>
  <dc:subject>넥스트파트너 사이트 구조 정리</dc:subject>
  <dc:creator>OpenAI</dc:creator>
  <cp:lastModifiedBy>OpenAI</cp:lastModifiedBy>
  <cp:revision>1</cp:revision>
  <dcterms:created xsi:type="dcterms:W3CDTF">2026-06-29T15:42:33Z</dcterms:created>
  <dcterms:modified xsi:type="dcterms:W3CDTF">2026-06-29T15:42:33Z</dcterms:modified>
</cp:coreProperties>
</file>